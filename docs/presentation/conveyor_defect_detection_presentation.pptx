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39e7cd4b1c4f5a" /><Relationship Type="http://schemas.openxmlformats.org/officeDocument/2006/relationships/extended-properties" Target="/docProps/app.xml" Id="R04dac3184089419c" /><Relationship Type="http://schemas.openxmlformats.org/officeDocument/2006/relationships/officeDocument" Target="/ppt/presentation.xml" Id="Ra30eb7eac93246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767f599f6e42c8"/>
  </p:sldMasterIdLst>
  <p:notesMasterIdLst>
    <p:notesMasterId xmlns:r="http://schemas.openxmlformats.org/officeDocument/2006/relationships" r:id="R5090ce3b87ce4d39"/>
  </p:notesMasterIdLst>
  <p:sldIdLst>
    <p:sldId xmlns:r="http://schemas.openxmlformats.org/officeDocument/2006/relationships" id="256" r:id="Rad4ed515c3154918"/>
    <p:sldId xmlns:r="http://schemas.openxmlformats.org/officeDocument/2006/relationships" id="257" r:id="R2b10e894b9a64340"/>
    <p:sldId xmlns:r="http://schemas.openxmlformats.org/officeDocument/2006/relationships" id="258" r:id="R2d356ac242a7457b"/>
    <p:sldId xmlns:r="http://schemas.openxmlformats.org/officeDocument/2006/relationships" id="259" r:id="R7ac933e8578f46ae"/>
    <p:sldId xmlns:r="http://schemas.openxmlformats.org/officeDocument/2006/relationships" id="260" r:id="R0e6eb63b883b4b6d"/>
    <p:sldId xmlns:r="http://schemas.openxmlformats.org/officeDocument/2006/relationships" id="261" r:id="R9aaacfc0db6749f6"/>
    <p:sldId xmlns:r="http://schemas.openxmlformats.org/officeDocument/2006/relationships" id="262" r:id="R43e11e1205c04d33"/>
    <p:sldId xmlns:r="http://schemas.openxmlformats.org/officeDocument/2006/relationships" id="263" r:id="R5285bc67c60548c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767f599f6e42c8" /><Relationship Type="http://schemas.openxmlformats.org/officeDocument/2006/relationships/theme" Target="/ppt/theme/theme1.xml" Id="Rc88e35521a7242b7" /><Relationship Type="http://schemas.openxmlformats.org/officeDocument/2006/relationships/notesMaster" Target="/ppt/notesMasters/notesMaster1.xml" Id="R5090ce3b87ce4d39" /><Relationship Type="http://schemas.openxmlformats.org/officeDocument/2006/relationships/presProps" Target="/ppt/presProps.xml" Id="Rebe07e42da6c4adb" /><Relationship Type="http://schemas.openxmlformats.org/officeDocument/2006/relationships/viewProps" Target="/ppt/viewProps.xml" Id="R083cfbe79c1d444b" /><Relationship Type="http://schemas.openxmlformats.org/officeDocument/2006/relationships/tableStyles" Target="/ppt/tableStyles.xml" Id="R8b5d12ea0f76464f" /><Relationship Type="http://schemas.openxmlformats.org/officeDocument/2006/relationships/slide" Target="/ppt/slides/slide1.xml" Id="Rad4ed515c3154918" /><Relationship Type="http://schemas.openxmlformats.org/officeDocument/2006/relationships/slide" Target="/ppt/slides/slide2.xml" Id="R2b10e894b9a64340" /><Relationship Type="http://schemas.openxmlformats.org/officeDocument/2006/relationships/slide" Target="/ppt/slides/slide3.xml" Id="R2d356ac242a7457b" /><Relationship Type="http://schemas.openxmlformats.org/officeDocument/2006/relationships/slide" Target="/ppt/slides/slide4.xml" Id="R7ac933e8578f46ae" /><Relationship Type="http://schemas.openxmlformats.org/officeDocument/2006/relationships/slide" Target="/ppt/slides/slide5.xml" Id="R0e6eb63b883b4b6d" /><Relationship Type="http://schemas.openxmlformats.org/officeDocument/2006/relationships/slide" Target="/ppt/slides/slide6.xml" Id="R9aaacfc0db6749f6" /><Relationship Type="http://schemas.openxmlformats.org/officeDocument/2006/relationships/slide" Target="/ppt/slides/slide7.xml" Id="R43e11e1205c04d33" /><Relationship Type="http://schemas.openxmlformats.org/officeDocument/2006/relationships/slide" Target="/ppt/slides/slide8.xml" Id="R5285bc67c60548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21bdc17f9784d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38123120c34f82" /><Relationship Type="http://schemas.openxmlformats.org/officeDocument/2006/relationships/notesMaster" Target="/ppt/notesMasters/notesMaster1.xml" Id="R635ce6f5c3ec41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19e1cdd7e54782" /><Relationship Type="http://schemas.openxmlformats.org/officeDocument/2006/relationships/notesMaster" Target="/ppt/notesMasters/notesMaster1.xml" Id="Rdb47700cb2e54a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42ee8cafff40e7" /><Relationship Type="http://schemas.openxmlformats.org/officeDocument/2006/relationships/notesMaster" Target="/ppt/notesMasters/notesMaster1.xml" Id="R754eff0cad3248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72c12c49f54d89" /><Relationship Type="http://schemas.openxmlformats.org/officeDocument/2006/relationships/notesMaster" Target="/ppt/notesMasters/notesMaster1.xml" Id="R26dd2859350944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42d6a9d8d34730" /><Relationship Type="http://schemas.openxmlformats.org/officeDocument/2006/relationships/notesMaster" Target="/ppt/notesMasters/notesMaster1.xml" Id="Rf0c0c14da37d4b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20b3146b3c4d16" /><Relationship Type="http://schemas.openxmlformats.org/officeDocument/2006/relationships/notesMaster" Target="/ppt/notesMasters/notesMaster1.xml" Id="R1930c178b2a04d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3275a6497b4364" /><Relationship Type="http://schemas.openxmlformats.org/officeDocument/2006/relationships/notesMaster" Target="/ppt/notesMasters/notesMaster1.xml" Id="R15703aa923654f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62da9d05004e45" /><Relationship Type="http://schemas.openxmlformats.org/officeDocument/2006/relationships/notesMaster" Target="/ppt/notesMasters/notesMaster1.xml" Id="R763739696cd54c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Представить тему, цель проекта и итоговые материалы: GitHub, ClearML, docs.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проекта conveyor-defect-detection.</a:t>
            </a:r>
          </a:p>
          <a:p xmlns:a="http://schemas.openxmlformats.org/drawingml/2006/main">
            <a:r>
              <a:t>- Итоговая showcase-задача Defense Showcase (U-Net) в ClearML.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Коротко объяснить, что это учебная, но корректная постановка.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проекта conveyor-defect-detection.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Объяснить, почему U-Net и почему BCE сочетается с Dice loss.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проекта conveyor-defect-detection.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основной ответ на замечание преподавателя про число эпох.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results/teacher_revision/sgd_bottle/bottle/split_info.json и evaluation_summary.csv.</a:t>
            </a:r>
          </a:p>
          <a:p xmlns:a="http://schemas.openxmlformats.org/drawingml/2006/main">
            <a:r>
              <a:t>- results/teacher_revision/all_validation_graphs/validation_graphs_summary.csv.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удобно показать, что выбор конфигурации сделан по экспериментам, а не случайно.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results/teacher_revision/report_data/optimizer_argument.csv.</a:t>
            </a:r>
          </a:p>
          <a:p xmlns:a="http://schemas.openxmlformats.org/drawingml/2006/main">
            <a:r>
              <a:t>- results/teacher_revision/all_validation_graphs/validation_graphs_summary.csv.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Ключевой вывод: для bottle отдельное обучение оказалось сильнее общего.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results/final/comparison/final_summary.csv.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Этот слайд нужен для перехода от чисел к реальным результатам.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Итоговая showcase-задача Defense Showcase (U-Net) в ClearML.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Закончить коротким выводом: проект готов к защите и демонстрации.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проекта conveyor-defect-detection.</a:t>
            </a:r>
          </a:p>
          <a:p xmlns:a="http://schemas.openxmlformats.org/drawingml/2006/main">
            <a:r>
              <a:t>- docs/report_source.md, docs/task_journal.md и docs/report.pdf.</a:t>
            </a:r>
          </a:p>
          <a:p xmlns:a="http://schemas.openxmlformats.org/drawingml/2006/main">
            <a:r>
              <a:t>- Итоговая showcase-задача Defense Showcase (U-Net) в ClearML.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ad1db2eab946b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8738E85A-F1BC-4289-881C-9BE7841A423C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CDA93B-9228-4697-B068-52AC795282B4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6723328-13FD-4F4F-9BC6-0DBEF3349A0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56E56D-7651-4660-A4D3-6792DA8E204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5C22673-2D44-4F8F-AA03-6970E94CAA5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216945a1b3c4454" /><Relationship Type="http://schemas.openxmlformats.org/officeDocument/2006/relationships/slideLayout" Target="/ppt/slideLayouts/slideLayout2.xml" Id="R8a18d3ee55b74e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BC21DD5-6E68-4505-9836-C1801D0E40C9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18d3ee55b74e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2958a9a73d45f3" /><Relationship Type="http://schemas.openxmlformats.org/officeDocument/2006/relationships/image" Target="/ppt/media/image.png" Id="Rf510053f8e1141b7" /><Relationship Type="http://schemas.openxmlformats.org/officeDocument/2006/relationships/notesSlide" Target="/ppt/notesSlides/notesSlide1.xml" Id="R43fc3c4af6a941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e3e8abfaae4bb6" /><Relationship Type="http://schemas.openxmlformats.org/officeDocument/2006/relationships/image" Target="/ppt/media/image2.png" Id="R882e12f2b6174a16" /><Relationship Type="http://schemas.openxmlformats.org/officeDocument/2006/relationships/notesSlide" Target="/ppt/notesSlides/notesSlide2.xml" Id="R0d61c60c623c47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3dc50d57b34448" /><Relationship Type="http://schemas.openxmlformats.org/officeDocument/2006/relationships/image" Target="/ppt/media/image3.png" Id="R7e03ea0c1a224280" /><Relationship Type="http://schemas.openxmlformats.org/officeDocument/2006/relationships/notesSlide" Target="/ppt/notesSlides/notesSlide3.xml" Id="R94fbd56c9cda47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c17fcb9f6f4015" /><Relationship Type="http://schemas.openxmlformats.org/officeDocument/2006/relationships/image" Target="/ppt/media/image4.png" Id="R712315c9294447af" /><Relationship Type="http://schemas.openxmlformats.org/officeDocument/2006/relationships/notesSlide" Target="/ppt/notesSlides/notesSlide4.xml" Id="R75bdbfcefc394d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75704a115f48b4" /><Relationship Type="http://schemas.openxmlformats.org/officeDocument/2006/relationships/image" Target="/ppt/media/image5.png" Id="R6b3a259da3d04336" /><Relationship Type="http://schemas.openxmlformats.org/officeDocument/2006/relationships/notesSlide" Target="/ppt/notesSlides/notesSlide5.xml" Id="R00f5579c244941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13a22512f645bb" /><Relationship Type="http://schemas.openxmlformats.org/officeDocument/2006/relationships/image" Target="/ppt/media/image6.png" Id="R796f85e244de4d4c" /><Relationship Type="http://schemas.openxmlformats.org/officeDocument/2006/relationships/notesSlide" Target="/ppt/notesSlides/notesSlide6.xml" Id="Rfcf924daf3734f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6fdafbfab64273" /><Relationship Type="http://schemas.openxmlformats.org/officeDocument/2006/relationships/image" Target="/ppt/media/image7.png" Id="R3d7bed5659e940d1" /><Relationship Type="http://schemas.openxmlformats.org/officeDocument/2006/relationships/notesSlide" Target="/ppt/notesSlides/notesSlide7.xml" Id="R14d8240b34dd44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8160433eaa406f" /><Relationship Type="http://schemas.openxmlformats.org/officeDocument/2006/relationships/image" Target="/ppt/media/image8.png" Id="R4dea1d5870604134" /><Relationship Type="http://schemas.openxmlformats.org/officeDocument/2006/relationships/notesSlide" Target="/ppt/notesSlides/notesSlide8.xml" Id="R024e716c5c9e43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5C22673-2D44-4F8F-AA03-6970E94CAA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0053f8e1141b7"/>
          <a:srcRect xmlns:a="http://schemas.openxmlformats.org/drawingml/2006/main" l="0" t="15239" r="0" b="152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3D5FF-2045-4EE4-AAD2-82BB221C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0F869-2D3C-4FC2-8315-693C399B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F4372-275D-4A31-B122-E3A03301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CONVEYOR DEFECT DETECTION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8F470-EBD0-41E1-990C-01C9DED7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</a:rPr>
              <a:t>Сегментация дефектов на изображениях с помощью U-Net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DABDC-3F9B-46E5-B5B9-B98995AA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</a:rPr>
              <a:t>Учебный проект по курсу «Прикладные методы искусственного интеллекта».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1C4AC-1BDB-4A7D-A213-7C7924B8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07E67-5631-4FA4-A40E-691FDE0E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4"/>
                </a:solidFill>
              </a:defRPr>
            </a:pPr>
            <a:r>
              <a:rPr sz="1725" b="1">
                <a:solidFill>
                  <a:srgbClr val="101214"/>
                </a:solidFill>
              </a:rPr>
              <a:t>Цель: выделять область дефекта в виде маски.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902F56-34C3-48D9-AD98-9DFA4091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3192561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5C22673-2D44-4F8F-AA03-6970E94CAA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2e12f2b6174a16"/>
          <a:srcRect xmlns:a="http://schemas.openxmlformats.org/drawingml/2006/main" l="0" t="26017" r="0" b="260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CCC85-718B-428F-83F2-BA1E852F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BA635-091C-4220-9585-39E1631E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SECTION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8DA34-9F9C-44F4-B74B-EA7F701E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02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B3747-BC2C-43D9-B215-F885D815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FF28C-984B-48BD-AB2E-3665FD50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FE6E41-84C5-4992-9AB7-34AF4F99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Задача и датасет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B5C1B9-A8B0-4FE0-B9CF-38C43829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Используется MVTec AD и локальный train/validation split размеченного test-набора.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37173-4A71-4124-873C-FFB250A8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5277DC-46D4-45C5-ABCB-283C8CA3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3B05E-5D0E-46BF-9785-8200B39D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7458A-37EA-4F45-B1BB-01CF7252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EA1A4-8CFC-4962-B14E-3934B71B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3426C-20CB-4798-A468-1DD441BC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9C8ECC-E7B6-4B35-8603-E321A643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Задача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659C54-CC27-4FF5-9B34-A6090930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Нужно выделить область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дефекта, а не только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определить его наличие.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4D6019-87F9-4EF0-8C43-9A342EF8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EFBDD5-25F3-4801-8698-E70949D6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2A0F61-44B1-4CDD-AC0F-607CC380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9FFC50-AAEC-4B85-8F09-3BEE2DB3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E1BB52-9B63-46D8-92F5-5832ABE5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AABCDE-C868-4426-86C0-95F0F786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1378B1-FC21-45B3-B5FA-D477E292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Датасет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71EC98-FAC5-4248-89FF-6947C7E4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Выбран MVTec AD с реальными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категориями деталей и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масками дефектов.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B7C589-536F-4306-B0CF-26B2FC5D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F12359-242E-40A4-8D98-71DC112B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E6B7F1-BF15-4BA6-94BF-94953C5C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9190DA-921D-4B21-9CC5-1A4AB81F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5684C3-8127-47DD-962A-60F7CE2B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8B60BE-8D19-418A-B551-DA042055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3D7836-832D-43A7-BBB2-971D0272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Особенность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0B872B-F9A3-4330-9F5D-7687854E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Маски есть в test, поэтому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используется локальный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split.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A4D7EA-8C47-4F6B-ABA2-2793E4CA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52841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5C22673-2D44-4F8F-AA03-6970E94CAA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3ea0c1a224280"/>
          <a:srcRect xmlns:a="http://schemas.openxmlformats.org/drawingml/2006/main" l="0" t="2750" r="0" b="27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6C160-39A6-48E0-80BE-A63A8348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11D3F-7E0D-445E-AC64-01E99479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SECTION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35EF8-8C59-425C-AE26-C5021624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03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879DA-22DC-40DB-A43C-4EA6D246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7B253-7A42-457E-95F7-D4D080B1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C4AF4-F0D6-449A-938B-19B495B0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Модель и обучение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C0794-21C9-4F75-B774-74EFED60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Основная модель проекта — U-Net, а качество обучения контролируется через validation error.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E6EEE-B456-4D2E-8BB2-58C962DB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1E622-6E71-4697-87FF-916526A3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4A994-36D7-49FC-B538-02CF80D9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U-Net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261D4E-A72C-49AB-BA84-E19E8359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архитектура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B8A4E-12CB-49B5-B47F-0E6D8A2E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модель сегментации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30DF49-2430-4D7F-8326-D63CC0C8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9691C1-8507-4C98-A736-454A80EB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0C78E8-C49D-47B4-A53B-F64D8577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0.6 BCE + 0.4 Dice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FC3F72-A599-4587-A41B-A39FA81E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функция потерь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D1291A-9F76-4BCA-A115-082FEFC3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для дисбаланса классов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23A646-178E-40A8-93A5-69529D61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6D9D3E-14CB-4EB3-97A7-108F7D2E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318E04-B12F-4DFE-BF5D-EBE6E327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Early stopping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FEF15C-F9AB-4977-81DE-A50CDCC4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контроль обучения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FD1A80-411C-4323-87FB-80FCA8AC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по validation error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A139BE-ED7E-4185-9D65-14E2D474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9016592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5C22673-2D44-4F8F-AA03-6970E94CAA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315c9294447af"/>
          <a:srcRect xmlns:a="http://schemas.openxmlformats.org/drawingml/2006/main" l="0" t="2470" r="0" b="24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6CC20-4DA9-4486-8304-B4405395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B4FA1-7D69-47AC-A6E7-5D458EAB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SECTION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6526F-DEAE-452F-B2D7-89756C05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04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FCE8B-9942-43D7-9E54-736773F3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21361-48F0-419B-97E8-0A4E921E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C46E7-ECE0-4C79-BF00-C79F921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Validation error и выбор эпохи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CBDA1-2CA3-4DD2-A133-FE2D5120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Лучшая модель выбирается по минимуму validation error, а не по последней эпохе.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FA309-0F84-4EDC-96A1-CA1C41E0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90644-6B81-4F6A-800F-EAD4D6EE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180A5-4D44-4284-8062-84A6E625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DFE9A-0BA6-4C67-8DE4-4D955CB9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AC898D-6CFD-4BFC-AE09-BECE0C8C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15E122-F76D-4869-B941-E5B436B6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016D35-413A-42E8-8006-208970E3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Bottle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37C1B3-11B0-4F1D-BBE0-5B5DBE51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Лучшая эпоха = 11, best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validation loss = 0.380891.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14B694-1565-4054-AC3D-0D821A19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59136A-3CA8-4993-87B2-43F68694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39D71C-13E6-4695-99F7-3660502A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F93BE5-AA53-4107-BDF9-18F78114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F6AD32-382D-4D68-A2A2-C2AB1DB5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07E733-5794-4458-B1CD-109B707E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42368E-2353-46C5-8D9C-90C3706D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Критерий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656ABB-6A06-4700-99E3-EA098E26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Validation error показывает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качество модели на новых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данных.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D0FB3A-B51F-4B40-BD29-3AC4B0F8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1E94B9-B903-4A7D-9466-F001498C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12A4FE-E6C7-4E37-AD2A-3EFF74A5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1A9507-099B-49A9-9D69-25768F6E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2769D8-0C61-49BD-87EF-E7A8CAC5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F107B0-4894-4391-A59E-ADB24CD5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2A5593-7DB8-4259-9F79-6FFA755D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Остановка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6EC0BA-F960-4F9C-A7C8-ECD8CF37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Если улучшения нет, learning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rate снижается и срабатывает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early stopping.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6C76B0-32ED-4C54-91F8-A1657803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7118473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5C22673-2D44-4F8F-AA03-6970E94CAA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a259da3d04336"/>
          <a:srcRect xmlns:a="http://schemas.openxmlformats.org/drawingml/2006/main" l="0" t="2470" r="0" b="24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9118F-479B-463F-9056-17ABDA11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D0F8F-0E35-4AB6-90A7-A938DA69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SECTION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D7D80-D198-49EA-94DF-838B8E9D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05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F0C61-3D2A-4CDD-BA90-85EBB0A3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760FA-63BC-4B04-85C9-16E51C1C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7928C-3430-4EA1-A8FD-F37C16DB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Сравнение оптимизаторов и моделей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55F91-0A77-4075-89AB-4C6276EC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Проверялись разные настройки обучения и графики validation error по всем основным моделям.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9F352-42D1-482E-8D62-E714762E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00AEA6-0D31-49D8-9BE2-02B776C2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299B2-3A89-47C6-8FFD-CD35B308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990FA-8106-4813-84DB-82431EE3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FFB979-11A7-4562-A68F-0556DA51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DC366-4F46-4450-B44C-4E97B532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822C40-4356-4E6F-901B-6F8F33DA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Оптимизатор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7D573C-8DEB-4916-AA77-2B5C7B5A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Среди протестированных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вариантов лучший результат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показал SGD с lr = 1e-2.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FEFFA0-69E9-414D-B5A5-CACA3F35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EDA552-ABEA-4061-9E88-8A659602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8C808F-7693-4DFE-BEE3-CA5395E9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4A48ED-CF46-4EC5-8E1E-DD9295AB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36AEBD-91CD-4931-B990-66B42977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94FA55-3E91-43E4-85D1-874D1C25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3EE014-3C1C-4BD0-955F-C3055293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Категории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A5E2FE-B37D-42C9-9677-CAFF834B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Построены отдельные графики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validation error для bottle,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capsule, metal_nut, pill.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C43743-DEEC-47CF-B308-62AAA94E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302261-8D84-4835-8711-5D737C19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F85FF0-8350-4E04-A1CD-16CCAFD9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E634B2-991E-4A89-95A6-AD4127F0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37B9D5-9AF8-480F-A113-B3380D81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7F6273-75CD-4244-961A-9E9C827B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006EE6-A78B-4334-A362-CD329858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All-in-one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FDD10A-2538-4A11-AA35-CCEE203F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Общая модель остановилась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раньше: лучшая эпоха = 4.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A8FB99-D386-432E-9801-C8F79FB6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149987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5C22673-2D44-4F8F-AA03-6970E94CAA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f85e244de4d4c"/>
          <a:srcRect xmlns:a="http://schemas.openxmlformats.org/drawingml/2006/main" l="0" t="2470" r="0" b="24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47F2B-4031-47BA-AEF1-C5B3D972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023E0-D0EE-4880-A024-E2A89E94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SECTION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3BEFC-E5E9-4863-9A6D-F135528D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06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183D5-40A9-4A6E-9CDF-58A05C42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8E15A-2AE5-4DC0-B00C-C0273DCF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815F3-EB87-4940-AB4D-48AE4E25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Итоговые результаты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4F5D6-69FC-4DCD-B4C9-2708CA5F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Финальные метрики сравнивают отдельное обучение по категориям и общий режим.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D8CE0-1641-475E-9E5D-E1D7E063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B7762E-BDF4-4938-8872-88AF7DE1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C4A4A-6075-4FAA-B1B9-0BA9D250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0.606644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9EF23-C8AA-4160-A214-3D1FD010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Dice: bottle отдельно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2F654-8C3F-498D-A5F6-8782B54A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лучший bottle-результат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9B900-C2E9-485F-B780-7F833A24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994C5D-3B29-4824-92B6-82F18290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49E973-9D6B-492A-A374-2BC7BD9D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0.521746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4396DF-896A-431E-B5C0-7DBDD342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IoU: bottle отдельно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B45C86-1F7F-490C-B31E-F9114110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лучше all-in-one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4B8D1C-C1DD-4BEC-85C6-F6B22241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BF93B2-51BB-4E98-8EAB-82CB1D8A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810C7B-8C00-41A0-89DD-7DFE5A93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0.187500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8E9A7B-F3C5-4D2E-A001-90B7FD88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Dice: bottle all-in-one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7A032A-CAD0-4A52-9993-0E6ACFDE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ниже отдельного режима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E56A83-3F32-45B1-AD91-54A47997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3082823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5C22673-2D44-4F8F-AA03-6970E94CAA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7bed5659e940d1"/>
          <a:srcRect xmlns:a="http://schemas.openxmlformats.org/drawingml/2006/main" l="0" t="2470" r="0" b="24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6B056-7304-4E63-A127-7A45863F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92E3E-1DBA-4C38-9619-15A7C0D2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SECTION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A96AC-6539-445C-8C1B-F25A4A66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07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D133A-90D5-427A-8F2C-0E1D2C67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4D48FB-B7DB-4F18-A2D2-A8B66BB8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C63C5-24C8-4D0D-967C-41BD9A38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Визуальные результаты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13E7E9-F23B-4B36-BB76-06123453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Проект подтверждается не только метриками, но и примерами сегментации.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651E5-7E37-45A1-8370-7161CE37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44630-D696-4E66-9A7D-10CE1C54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9DF76D-817B-4D11-8924-E2CE42E4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A572D-37D4-4BBE-84EE-794169B8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39E17F-5B6B-4A98-B1F0-B853DF1A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F3C916-52C8-4519-9F81-80D8B693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1D14C8-B573-49DC-9718-E329DD96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Лучшие случаи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ED8092-FE17-4B9D-8E44-4E8DCC2F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Модель уверенно выделяет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область дефекта на наглядных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примерах.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081444-7E39-4A40-90B6-AF46575F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F29110-F841-4094-AB27-D07E8A58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E252AE-857E-4C8B-8ADC-25E6693F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BEFA05-8956-4AD6-B194-68707138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E304D2-488C-439D-A610-386CA70A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C9CE18-2AD8-40EA-AABA-F872552C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B35297-ECD1-45F2-8460-0D426A58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Проблемные случаи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909DB6-3C11-4770-BE9D-25F524DB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Сохранены и слабые примеры,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чтобы честно показать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ограничения модели.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638ADA-EFA2-4096-B3D9-F1195521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EC6F26-AF58-47C1-9601-CBE5FA00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3D21ED-03E5-43B7-89B1-461C9430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8421DF-E58C-42BF-B489-E85230AE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A43530-6583-47FD-8B15-1242E01B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AD9DC4-9396-4EC9-9564-8D80860D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FEB197-1648-4A07-B198-E718F2A8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Формат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8AE1FC-336B-46DC-B277-8F981FD0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В GitHub и ClearML есть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contact sheets и полные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примеры для показа.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44B74B-6407-4A6B-A645-0A0F929C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3337914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5C22673-2D44-4F8F-AA03-6970E94CAA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ea1d5870604134"/>
          <a:srcRect xmlns:a="http://schemas.openxmlformats.org/drawingml/2006/main" l="0" t="2470" r="0" b="24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E28E8-CD60-4229-B7FB-DBFC6521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35F72-6FF2-4D6F-B3EE-7CAF98D4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SECTION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EE26D-5B00-4DA3-873D-04073AA9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08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AF609-1DB4-417E-AF81-84F93870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820E0-8860-40EC-89D3-6062BECB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74225-2751-461E-BA3A-A1D6A3C6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Готовность к сдаче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3DF59-1043-4927-BAB3-45E95965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Проект собран в GitHub, снабжён материалами в docs и одной итоговой задачей ClearML.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028E7-2ADE-4C14-A00A-E55ED133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A2CB0-EB3A-49C5-88B7-C3B8B597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8A2B7-6FEF-4005-AC24-AC5E5E48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83259F-BF29-4CB9-9B63-DAFA0571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32749-8BAF-4FDD-A161-FADD74AC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37B04A-47D4-40B0-84A2-752CE585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5F200B-56A8-471D-A435-76A314AB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GitHub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3A0553-856E-45DE-BD7B-2703B4B5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README, код и материалы для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сдачи приведены в аккуратный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вид.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8C080F-C91E-4297-84BD-75D2B73C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E70D79-438A-4B33-AE25-014F144E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B4D503-2D72-494D-8DB7-6570BB13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867207-3B7C-438B-8701-0BB1964E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1EB3D3-A3A9-47D9-91E6-6134FA90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922DB0-42E1-4E41-BC7E-6FD283BF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657A6F-FC2C-4795-BD5C-4B5226C9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Docs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AC1912-B80A-410B-A0A9-9B0C4430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Сформированы report.pdf,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журнал задач, outline отчёта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и презентация.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94579B-4DFB-4A17-82B1-9CCDBDE7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A30BBE-A630-4D61-9DC2-197D43EC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732292-4E0A-4F08-B07C-67EFF093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E4AC58-F47D-40CE-A2A8-572C1AB4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88B560-17AF-4330-846B-DB55C5C8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3DB2DF-6D3D-4D27-9374-5651B51A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EB1682-454C-49EC-840E-3927AEDF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ClearML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0B6A18-C2B1-4381-97D8-11E8F280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Оставлена одна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showcase-задача для показа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всего проекта.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BDD6AB-C897-44FF-9619-2DC2E570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99256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2026-05-23T12:49:29.9810000Z</dcterms:created>
  <dcterms:modified xsi:type="dcterms:W3CDTF">2026-05-23T12:49:29.9810000Z</dcterms:modified>
</coreProperties>
</file>