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43d9ed2c0f49a3" /><Relationship Type="http://schemas.openxmlformats.org/officeDocument/2006/relationships/extended-properties" Target="/docProps/app.xml" Id="Racefaa91294c4240" /><Relationship Type="http://schemas.openxmlformats.org/officeDocument/2006/relationships/officeDocument" Target="/ppt/presentation.xml" Id="R21898d19bfe246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f5a25f33cc46dc"/>
  </p:sldMasterIdLst>
  <p:notesMasterIdLst>
    <p:notesMasterId xmlns:r="http://schemas.openxmlformats.org/officeDocument/2006/relationships" r:id="Rcd28a1a9dea6470f"/>
  </p:notesMasterIdLst>
  <p:sldIdLst>
    <p:sldId xmlns:r="http://schemas.openxmlformats.org/officeDocument/2006/relationships" id="256" r:id="R88343a237f134e03"/>
    <p:sldId xmlns:r="http://schemas.openxmlformats.org/officeDocument/2006/relationships" id="257" r:id="R497f9f869d254cb3"/>
    <p:sldId xmlns:r="http://schemas.openxmlformats.org/officeDocument/2006/relationships" id="258" r:id="R7b3a0d67ddc54b6f"/>
    <p:sldId xmlns:r="http://schemas.openxmlformats.org/officeDocument/2006/relationships" id="259" r:id="R9606e58308584091"/>
    <p:sldId xmlns:r="http://schemas.openxmlformats.org/officeDocument/2006/relationships" id="260" r:id="Rec4e4c9ed2154e6a"/>
    <p:sldId xmlns:r="http://schemas.openxmlformats.org/officeDocument/2006/relationships" id="261" r:id="R6cf76e7670084f58"/>
    <p:sldId xmlns:r="http://schemas.openxmlformats.org/officeDocument/2006/relationships" id="262" r:id="R98c200b556ef4770"/>
    <p:sldId xmlns:r="http://schemas.openxmlformats.org/officeDocument/2006/relationships" id="263" r:id="Rcd00a17253cb4b1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5a25f33cc46dc" /><Relationship Type="http://schemas.openxmlformats.org/officeDocument/2006/relationships/theme" Target="/ppt/theme/theme1.xml" Id="R4e57773e87844def" /><Relationship Type="http://schemas.openxmlformats.org/officeDocument/2006/relationships/notesMaster" Target="/ppt/notesMasters/notesMaster1.xml" Id="Rcd28a1a9dea6470f" /><Relationship Type="http://schemas.openxmlformats.org/officeDocument/2006/relationships/presProps" Target="/ppt/presProps.xml" Id="Rb9d36f81b6e344b3" /><Relationship Type="http://schemas.openxmlformats.org/officeDocument/2006/relationships/viewProps" Target="/ppt/viewProps.xml" Id="R63e71ed9099841a5" /><Relationship Type="http://schemas.openxmlformats.org/officeDocument/2006/relationships/tableStyles" Target="/ppt/tableStyles.xml" Id="R31a40cfcb3a3483e" /><Relationship Type="http://schemas.openxmlformats.org/officeDocument/2006/relationships/slide" Target="/ppt/slides/slide1.xml" Id="R88343a237f134e03" /><Relationship Type="http://schemas.openxmlformats.org/officeDocument/2006/relationships/slide" Target="/ppt/slides/slide2.xml" Id="R497f9f869d254cb3" /><Relationship Type="http://schemas.openxmlformats.org/officeDocument/2006/relationships/slide" Target="/ppt/slides/slide3.xml" Id="R7b3a0d67ddc54b6f" /><Relationship Type="http://schemas.openxmlformats.org/officeDocument/2006/relationships/slide" Target="/ppt/slides/slide4.xml" Id="R9606e58308584091" /><Relationship Type="http://schemas.openxmlformats.org/officeDocument/2006/relationships/slide" Target="/ppt/slides/slide5.xml" Id="Rec4e4c9ed2154e6a" /><Relationship Type="http://schemas.openxmlformats.org/officeDocument/2006/relationships/slide" Target="/ppt/slides/slide6.xml" Id="R6cf76e7670084f58" /><Relationship Type="http://schemas.openxmlformats.org/officeDocument/2006/relationships/slide" Target="/ppt/slides/slide7.xml" Id="R98c200b556ef4770" /><Relationship Type="http://schemas.openxmlformats.org/officeDocument/2006/relationships/slide" Target="/ppt/slides/slide8.xml" Id="Rcd00a17253cb4b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75dae9ac33245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316e6535c8495a" /><Relationship Type="http://schemas.openxmlformats.org/officeDocument/2006/relationships/notesMaster" Target="/ppt/notesMasters/notesMaster1.xml" Id="Rcdf6d6bd929544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882186ca8c4eef" /><Relationship Type="http://schemas.openxmlformats.org/officeDocument/2006/relationships/notesMaster" Target="/ppt/notesMasters/notesMaster1.xml" Id="R3323b835507a46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8f165bec0d491c" /><Relationship Type="http://schemas.openxmlformats.org/officeDocument/2006/relationships/notesMaster" Target="/ppt/notesMasters/notesMaster1.xml" Id="Rf6e3b5bcd4bf4c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e12c0132454aa1" /><Relationship Type="http://schemas.openxmlformats.org/officeDocument/2006/relationships/notesMaster" Target="/ppt/notesMasters/notesMaster1.xml" Id="R474268f5c73446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0d504cf8bd4fbd" /><Relationship Type="http://schemas.openxmlformats.org/officeDocument/2006/relationships/notesMaster" Target="/ppt/notesMasters/notesMaster1.xml" Id="R4947ff54dca741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9c2ba5972a48fb" /><Relationship Type="http://schemas.openxmlformats.org/officeDocument/2006/relationships/notesMaster" Target="/ppt/notesMasters/notesMaster1.xml" Id="Rdb6ad39e7b314d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68a9051fa54f17" /><Relationship Type="http://schemas.openxmlformats.org/officeDocument/2006/relationships/notesMaster" Target="/ppt/notesMasters/notesMaster1.xml" Id="Ra68c02317ed04c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0873e188a74849" /><Relationship Type="http://schemas.openxmlformats.org/officeDocument/2006/relationships/notesMaster" Target="/ppt/notesMasters/notesMaster1.xml" Id="Rca93df8b8a7842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представить тему, цель и итоговую структуру сдачи: GitHub, docs, ClearML showcase.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проекта conveyor-defect-detection.</a:t>
            </a:r>
          </a:p>
          <a:p xmlns:a="http://schemas.openxmlformats.org/drawingml/2006/main">
            <a:r>
              <a:t>- Итоговая задача ClearML Defense Showcase (U-Net).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Подчеркнуть, что это учебная, но корректно объяснимая постановка для защиты.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проекта conveyor-defect-detection.</a:t>
            </a:r>
          </a:p>
          <a:p xmlns:a="http://schemas.openxmlformats.org/drawingml/2006/main">
            <a:r>
              <a:t>- docs/report_source.md и docs/task_journal.md.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Объяснить, почему одной BCE недостаточно и зачем нужен Dice loss.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проекта conveyor-defect-detection.</a:t>
            </a:r>
          </a:p>
          <a:p xmlns:a="http://schemas.openxmlformats.org/drawingml/2006/main">
            <a:r>
              <a:t>- docs/report_source.md и docs/task_journal.md.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один из главных ответов на замечания преподавателя.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results/teacher_revision/sgd_bottle/bottle/split_info.json и evaluation_summary.csv.</a:t>
            </a:r>
          </a:p>
          <a:p xmlns:a="http://schemas.openxmlformats.org/drawingml/2006/main">
            <a:r>
              <a:t>- results/teacher_revision/all_validation_graphs/validation_graphs_summary.csv.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Показать, что графики построены не только для bottle, но и для всех основных моделей.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results/teacher_revision/all_validation_graphs/validation_graphs_summary.csv.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важно проговорить, что отдельное обучение для bottle оказалось сильнее общего.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results/final/comparison/final_summary.csv.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Этот слайд нужен, чтобы перейти от метрик к наглядности.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Итоговая задача ClearML Defense Showcase (U-Net).</a:t>
            </a:r>
          </a:p>
          <a:p xmlns:a="http://schemas.openxmlformats.org/drawingml/2006/main">
            <a:r>
              <a:t>- docs/report_source.md и docs/task_journal.md.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Завершить слайд коротким выводом: проект готов к сдаче и очной защите.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проекта conveyor-defect-detection.</a:t>
            </a:r>
          </a:p>
          <a:p xmlns:a="http://schemas.openxmlformats.org/drawingml/2006/main">
            <a:r>
              <a:t>- docs/report_source.md и docs/task_journal.md.</a:t>
            </a:r>
          </a:p>
          <a:p xmlns:a="http://schemas.openxmlformats.org/drawingml/2006/main">
            <a:r>
              <a:t>- Итоговая задача ClearML Defense Showcase (U-Net).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375ba142c41d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71D4E2D3-B77D-40C8-BA63-331310A8383B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65B17D19-0077-43D2-BFEA-221607AA5269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D82A64-9FD2-4ECE-B1A9-8C3B6D8BE10C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3DCACA-D377-46D4-9181-72C4B29FD60D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93aee74d1ec4e02" /><Relationship Type="http://schemas.openxmlformats.org/officeDocument/2006/relationships/slideLayout" Target="/ppt/slideLayouts/slideLayout2.xml" Id="R5e41443656c441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B74F95-A3EF-4377-9973-47BFDD910751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41443656c441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3a7d62120649a5" /><Relationship Type="http://schemas.openxmlformats.org/officeDocument/2006/relationships/image" Target="/ppt/media/image.png" Id="R75707ae9553d48af" /><Relationship Type="http://schemas.openxmlformats.org/officeDocument/2006/relationships/notesSlide" Target="/ppt/notesSlides/notesSlide1.xml" Id="R95e8cd9e65c84d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3c9472360f4c55" /><Relationship Type="http://schemas.openxmlformats.org/officeDocument/2006/relationships/image" Target="/ppt/media/image2.png" Id="Re25fccad959e47db" /><Relationship Type="http://schemas.openxmlformats.org/officeDocument/2006/relationships/notesSlide" Target="/ppt/notesSlides/notesSlide2.xml" Id="Rf84659289a0442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ad245642b4f02" /><Relationship Type="http://schemas.openxmlformats.org/officeDocument/2006/relationships/image" Target="/ppt/media/image3.png" Id="R96f9c20e8069408b" /><Relationship Type="http://schemas.openxmlformats.org/officeDocument/2006/relationships/notesSlide" Target="/ppt/notesSlides/notesSlide3.xml" Id="R6345d3171af144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575600cbcf4bf6" /><Relationship Type="http://schemas.openxmlformats.org/officeDocument/2006/relationships/image" Target="/ppt/media/image4.png" Id="Rd17eb79e797d454c" /><Relationship Type="http://schemas.openxmlformats.org/officeDocument/2006/relationships/notesSlide" Target="/ppt/notesSlides/notesSlide4.xml" Id="R262c10dc1a4c47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223129dd954ed2" /><Relationship Type="http://schemas.openxmlformats.org/officeDocument/2006/relationships/image" Target="/ppt/media/image5.png" Id="R5eeec26ca9814b52" /><Relationship Type="http://schemas.openxmlformats.org/officeDocument/2006/relationships/notesSlide" Target="/ppt/notesSlides/notesSlide5.xml" Id="Rc8de6546468d4f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f3bb59141b4bbb" /><Relationship Type="http://schemas.openxmlformats.org/officeDocument/2006/relationships/image" Target="/ppt/media/image6.png" Id="R7e8c0d7f269947c0" /><Relationship Type="http://schemas.openxmlformats.org/officeDocument/2006/relationships/notesSlide" Target="/ppt/notesSlides/notesSlide6.xml" Id="Rac585834df6742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40fe2890af4182" /><Relationship Type="http://schemas.openxmlformats.org/officeDocument/2006/relationships/image" Target="/ppt/media/image7.png" Id="R9d1db98ac2e84f41" /><Relationship Type="http://schemas.openxmlformats.org/officeDocument/2006/relationships/notesSlide" Target="/ppt/notesSlides/notesSlide7.xml" Id="R5559cdcb672a4f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e2cfab03f9442b" /><Relationship Type="http://schemas.openxmlformats.org/officeDocument/2006/relationships/image" Target="/ppt/media/image8.png" Id="R01e095b78c5a42c5" /><Relationship Type="http://schemas.openxmlformats.org/officeDocument/2006/relationships/notesSlide" Target="/ppt/notesSlides/notesSlide8.xml" Id="Rbec787025bea4a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07ae9553d48af"/>
          <a:srcRect xmlns:a="http://schemas.openxmlformats.org/drawingml/2006/main" l="0" t="15239" r="0" b="152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3B081-35C3-4602-B977-CDAFDE55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1BA00-5AF0-49CC-9138-2BD3EADC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56916-8684-4C0F-9F6B-D4DB76ED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38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CONVEYOR DEFECT DETECTION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0C3B9-6819-4836-932A-782D45DF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74771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214"/>
                </a:solidFill>
              </a:defRPr>
            </a:pPr>
            <a:r>
              <a:rPr sz="3600" b="1">
                <a:solidFill>
                  <a:srgbClr val="101214"/>
                </a:solidFill>
              </a:rPr>
              <a:t>Сегментация дефектов на изображениях с помощью U-Net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89829-F2DF-4492-86CC-D35B053C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0363A"/>
                </a:solidFill>
              </a:defRPr>
            </a:pPr>
            <a:r>
              <a:rPr sz="1500" b="0">
                <a:solidFill>
                  <a:srgbClr val="30363A"/>
                </a:solidFill>
              </a:rPr>
              <a:t>Учебный проект по курсу «Прикладные методы искусственного интеллекта» с отчётом в ClearML и GitHub-репозиторием.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5F3A3-C3E1-422F-87F3-DD791D6A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9A300-2CE2-4E32-A4F7-B48F53F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20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214"/>
                </a:solidFill>
              </a:defRPr>
            </a:pPr>
            <a:r>
              <a:rPr sz="1725" b="1">
                <a:solidFill>
                  <a:srgbClr val="101214"/>
                </a:solidFill>
              </a:rPr>
              <a:t>Задача проекта: не просто определить наличие дефекта, а выделить его точную область в виде маски.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DBD74-E578-4B45-8E99-85D1FEA4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72381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fccad959e47db"/>
          <a:srcRect xmlns:a="http://schemas.openxmlformats.org/drawingml/2006/main" l="0" t="26017" r="0" b="260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A1727-5FA0-43E8-A52F-F287BB7A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225AE-1068-4225-B5C3-8AD1133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0DADA4-7245-4CD5-BC00-3B96E179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02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B3696-E09D-4B0E-A9BD-D384A4D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D78AD-B9DE-4EF9-9CD1-BE4DD64D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C88BC-6BB3-48A4-A4EA-2D56A602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Постановка задачи и датасет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5A1D1-E595-4636-9432-DB647225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Используется MVTec AD, а обучение U-Net построено на локальном train/validation split размеченного test-набора.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7BA30-9527-45D6-94D4-ABD9FF7C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BFB82-F344-4FC2-BC7C-B193E795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FF10B4-3A68-4304-B619-8D54064D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6E4C2-B7CE-4F52-A408-25E2E7F9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AFEC7-348B-4F26-A53F-75E76D1E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5E35C-7519-4896-BB0E-0E8B303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857CEA-0CD3-4DC0-85B7-7EC11D93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Задача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D4325-3FF9-4D17-905F-29E341B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Нужно выделить область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дефекта, а не только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определить его наличие.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74EAF8-3716-4BD8-AA59-90987ECD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2F185-F8B9-4AC4-8484-C10A96B2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608577-D6D9-4065-9AB1-36887DDF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F7EF51-840A-4DDB-8BFB-80C5A3B7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632D38-A729-4D01-8C37-DCFFF8EA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BA8E11-559B-4E77-944F-6FF2D085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B21AC-3990-409A-889E-09B26EE4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Датасет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2E54D1-5D9A-443F-8E9D-CE13D060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Выбран MVTec AD с реальными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категориями деталей и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масками дефектов.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583E79-7063-4D31-A0AF-AAC635DD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2B4F6C-E4C8-4BC0-AA1D-46AC085C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A695AE-5A33-4B17-ACEC-7E4C331A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126487-0409-44C6-8CC2-9DF499FE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C773D-62F9-401D-9CDB-CACEA6EE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83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3C5997-144E-4618-B8F2-FBDCCD7E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6F5B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1C9385-E077-4DF4-92B5-1C49E0CE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Особенность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2F192A-F0AB-42A5-88F6-A47CA5F3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Маски есть только в test,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поэтому используется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локальный split.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77FF0F-BFF1-40E3-801D-0E9694AC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3422320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9c20e8069408b"/>
          <a:srcRect xmlns:a="http://schemas.openxmlformats.org/drawingml/2006/main" l="0" t="2750" r="0" b="2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A26A3-37EE-4DD0-9894-0859E4A2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E5922-F731-4CF6-88C6-F9A95BAC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55FFD-E25B-4BE3-A703-353FCA37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03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C614B-A436-45B2-92FB-81D33340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1F49A-E130-4D44-9912-1FB2A52F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B267A-D3C7-45AB-95B7-3FD62AE4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Архитектура и обучение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666CC-6E22-41AA-AA55-A6039088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Основная модель проекта — U-Net, а качество обучения контролируется через validation error.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6D338-0AC2-42F1-B07B-0E965465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E3D4B-FD03-4BC8-8DD7-82D17862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F3D5D-5CD3-4868-A1B3-CBEAA488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U-Net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E4CDC-F989-4FD3-A578-A6765466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архитектура модели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E6D33-8B46-4781-B252-F85B81D8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основная модель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69DA9-EA2C-46A2-BD46-01383949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31C8E-AB26-4113-BFEE-D41289E4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8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25217-0D29-42AE-ABCE-89D139FF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0.6 BCE + 0.4 Dice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2ABCE-A1F4-4BAC-9261-FC110015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функция потерь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86F6CE-3CF0-4FC2-9C9F-22275C34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устойчива к дисбалансу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AED0F-E3F8-42A9-8D0A-7BB92A98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E29F66-4ADE-465E-A5A3-D4C5E000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6849B5-0FE7-4F42-A8C9-D21943E1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Early stopping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28F4C9-D729-4869-9011-F60B7FF8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контроль переобучения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EE8204-C29D-46FF-94BA-0F8BE028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через validation error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ECF0D-EF6F-4E8F-A532-4F4CF21F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708996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eb79e797d454c"/>
          <a:srcRect xmlns:a="http://schemas.openxmlformats.org/drawingml/2006/main" l="0" t="2470" r="0" b="24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201B5-A08D-4AE2-BA2C-ABEA4FD4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7F3F1-DBBD-4010-87F9-AE102419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EBBCE-F000-41FE-92F0-F1CAA4A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04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5EC79-B199-4B95-9448-AEDFC933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1AAF6-5A43-4A4A-9E3F-46B23D1E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93440-3DDB-498E-9B80-40CADBAF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Validation error и выбор числа эпох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7AEF0-FADC-4E07-9FC9-D21EB282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Лучшая модель выбирается не по последней эпохе, а по минимальной ошибке на validation.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D752C-73F1-411A-9AA6-AEE1B1AD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48495-BADA-4466-A822-744A2CB6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9FBAB-55C0-455A-94A4-29D6483C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D1C52-A6FF-49A9-AE8A-F1FFF8C0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5B1C37-40FA-4399-8A37-3E719877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88B60-19EE-42DA-A7D5-C01E4F14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D210E-4961-4C35-8A0C-3B93883C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Критерий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68111-5EBC-4FBE-899A-8299AD21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После каждой эпохи считается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validation error, и по ней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выбирается лучшая модель.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F37D8-6DBA-4BD8-960F-C8B73ABA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7298DE-AC03-4124-BCBB-DA78BD04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A1BA5-7E35-4401-A8BE-8AC3688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2DCD2-5F45-455A-A762-514CF5BC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4E31F2-1C66-42BA-B9CF-5CD20AD1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080251-602A-461F-AF32-D93FF68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88855D-F5FC-4D76-9450-F03E7ACD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Bottle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93536B-3EB4-4CEC-8BAB-11053AEC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Для bottle лучшая эпоха =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11, а best validation loss =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0.380891.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4D81AE-9D72-49CB-9DCD-7332B2F8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C3AC4A-DE5F-4FD5-B6A6-BA1AA796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3A183-73C0-4522-B219-EF09B44C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751A9C-0DED-40D2-99D8-B513523D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58C26A-3BD9-4914-8C04-CD1577E6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83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4B9CCA-7532-423A-A721-8CEB96C9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6F5B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AE43C1-5C01-466F-A500-1AD667D3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Решение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B7E028-2172-49C5-BD2E-F613BD21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Если ошибка не улучшается,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learning rate снижается и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затем срабатывает early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stopping.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10674C-1D03-4F96-87F7-2C1ECD33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281185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ec26ca9814b52"/>
          <a:srcRect xmlns:a="http://schemas.openxmlformats.org/drawingml/2006/main" l="0" t="2470" r="0" b="24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255AF-F3D1-4A23-876E-2F6BAF1A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DE37E-49B7-4D47-9DD1-C3B2C05B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E622C-7BFC-49EE-9DB1-BCB26254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05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C54DE-4957-4B72-8012-EFA12549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831A0-74E1-48E4-B7EF-308B1ED3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A476B-3592-42BC-81ED-2CD9645A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Сравнение по категориям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FC478-510E-4F8E-909C-AA68FC5D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Построены отдельные графики validation error для bottle, capsule, metal_nut, pill и all-in-one.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1E78A-C479-462C-B180-4C19223E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2C064-A080-4968-BC60-20D85DD8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C678F-B452-4703-8AE8-DE12B481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DAEB6-2BEB-4B30-B22E-A12144A5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03E468-66A8-41D4-B43F-AC4C426B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835DC-3E4B-45AE-B066-75641FC1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65389-40CF-455B-A93E-EEC0C406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Bottle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8A09D-8DB0-4D1D-A5EA-F22A25EC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Лучшая эпоха = 10, best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validation error = 0.56177.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6A1FC-FF23-4385-95CC-380F74F5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E09CB-928E-4B79-8983-2E0E61F4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C784F-D961-4A1B-9C5B-EA945243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540A6-274A-47C7-80DE-CA364926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14096-91AE-41B4-A0FC-7F65375D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12795-BECF-4434-BCFC-06AA64E1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DF3118-1C3D-4D12-9433-8845B31F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Metal Nut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C0C0C8-71C9-4E8A-9456-88A42665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Metal_nut дал самый низкий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best validation error =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0.35059.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40AE2F-8D23-41C5-9131-8C8B56C3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635A7C-F666-4D38-B01A-3433287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BA59F2-9959-4C62-B74E-85BD5A91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1E699E-13D1-46C4-8CC4-2BA3223F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C90E59-4D23-4878-9528-6A92F3B6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83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E25735-261E-4A93-ABBD-D9835E8A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6F5B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602319-DE42-4CB4-98EE-BB148B8C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All-in-one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AF76CF-02C9-4C23-9C40-7B91DC4F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Общая модель остановилась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раньше: лучшая эпоха = 4,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best validation error =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0.874632.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68E6F8-928C-43DE-BC4D-9407B521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6999582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c0d7f269947c0"/>
          <a:srcRect xmlns:a="http://schemas.openxmlformats.org/drawingml/2006/main" l="0" t="2470" r="0" b="24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3134D-C941-4EA2-BFA0-2ACEA8D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9EB0E8-4F5D-4C71-97F9-FE294599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71ECC-2CBB-4221-B50C-AEC5F8EA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06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348C1-9E40-492F-B7E8-F487DF58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A8224-0F30-434B-A1E7-EA72E8A6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4DD3C-C09B-41F6-9E66-CCC4DD96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Итоговые метрики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CE5D1-131E-4828-B2EE-6C1114CF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Финальные численные результаты сравнивают отдельное обучение и общее обучение.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AF250-0FD7-497C-BDE0-93B1BBA2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CA729-12B0-4670-B146-1BE1552D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06F38-9BE9-4BBA-A9B1-47768EA1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0.606644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DE184-A5AB-45EC-9203-929526E2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Dice для bottle отдельно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0CD7B-3FAC-4179-84C6-5247FA87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лучший результат по bottle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35AEAD-6200-4BB7-A5F5-DA50E490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6F7E8A-9EAD-492D-931B-509EC652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8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BA722-2325-420F-9233-6C662654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0.521746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36355-D7C8-4E30-83FC-D630E55D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IoU для bottle отдельно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4579E-23BB-4167-B314-859556B6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сильнее общего режима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BDEA4-1C47-46DF-867C-5076CAA9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8184E5-CFFF-4B2B-86A6-95ECF672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46430A-9C90-4376-9F0E-14D357E5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214"/>
                </a:solidFill>
              </a:defRPr>
            </a:pPr>
            <a:r>
              <a:rPr sz="2550" b="1">
                <a:solidFill>
                  <a:srgbClr val="101214"/>
                </a:solidFill>
              </a:rPr>
              <a:t>0.187500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F55094-7B4E-44A7-9504-E4890180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0363A"/>
                </a:solidFill>
              </a:defRPr>
            </a:pPr>
            <a:r>
              <a:rPr sz="1200" b="0">
                <a:solidFill>
                  <a:srgbClr val="30363A"/>
                </a:solidFill>
              </a:rPr>
              <a:t>Dice для bottle в all-in-one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82971-C256-47FE-BBC1-1175F54E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ниже отдельного обучения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27A256-1699-48B7-8B0A-F323D707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7773259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db98ac2e84f41"/>
          <a:srcRect xmlns:a="http://schemas.openxmlformats.org/drawingml/2006/main" l="0" t="2470" r="0" b="24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E7415-CF72-4841-B0E2-69298F3A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27E52-78EF-4D3A-B1F0-7C6EBCA4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513F6-B9E3-4DE4-BD95-6F0B3B7A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07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C1D2A-3ECA-4906-B4FC-E8DEE6D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223E1-046B-4395-9ADD-FA46A9C1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62ADB-9015-404E-B896-57E7296D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Визуальные результаты сегментации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482EF-F3F6-4FF5-A296-183DCD88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Проект показывает не только метрики, но и реальные примеры: изображение, маска и наложение.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44CB4-3FB5-4C93-8020-B9CE068D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44D2A-EB6E-4BA8-B5CA-EBE05F00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5F2B73-93BE-4BA5-9542-80E71804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7A051-8A35-4B4C-811C-A9A00909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CF3835-D331-4EE4-90AF-FA895CC9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1DF26-63C5-4FBE-918F-E422EB19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BD474-736C-4D7F-9E3F-3777221C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Лучшие примеры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0F77FE-7789-44B9-8480-3F6E40A5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Визуалы подтверждают, что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модель выделяет область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дефекта, а не только даёт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хорошие числа.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40501-39FE-4A4B-B032-FAE814CA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A3D73-328B-4ED9-BEE1-A9E5812C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27A41-E707-40DF-A13F-21325500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323123-56FC-4E12-9C21-49595FB4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9DE01C-CD07-4A1B-B408-C4280783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868D16-FED3-44EF-9EEE-2ADDCC2C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F92DA8-F59A-44E3-A565-61A43301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Проблемные примеры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59B7C2-F2A1-4E14-965B-96247AD8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Сохранены и слабые случаи,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чтобы честно показать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ограничения модели.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9481A-E3BB-48F0-8F2A-5E10320A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7F0387-02F2-4CEE-8FC5-EEBFBE5B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9FF792-3BED-42FB-90B6-4797DD11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A41AB5-92C6-410C-A4DE-934D0D0B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3A723-0679-4AE1-A391-A64FAF3B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83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8B6D49-0380-4EF7-BE21-75FC510F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6F5B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12FC9D-86E1-4D0F-9221-F39C572B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Формат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A83CBE-CEFC-41D6-B323-40FA96C0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В GitHub и ClearML собраны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contact sheets и полные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примеры для показа.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DD3091-24FE-46C8-8AF7-EDF834EE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111280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8FB0CB-3547-4076-A20A-07C3536CB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095b78c5a42c5"/>
          <a:srcRect xmlns:a="http://schemas.openxmlformats.org/drawingml/2006/main" l="0" t="2470" r="0" b="24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E52E7-C43A-47AB-B358-060276FE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1AEAC-D45B-47B6-BE02-C4D5EB65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SECTION 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53413-5BC0-4264-BCBA-9605A2E1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16B49"/>
                </a:solidFill>
              </a:defRPr>
            </a:pPr>
            <a:r>
              <a:rPr sz="975" b="1">
                <a:solidFill>
                  <a:srgbClr val="116B49"/>
                </a:solidFill>
              </a:rPr>
              <a:t>08 /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B9C96-24AF-492E-8383-9BE16585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A4501-E471-4D56-9B98-8F91FF55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19050">
            <a:solidFill>
              <a:srgbClr val="10121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20CE3-7D35-4199-A74E-239BAC91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214"/>
                </a:solidFill>
              </a:defRPr>
            </a:pPr>
            <a:r>
              <a:rPr sz="3000" b="1">
                <a:solidFill>
                  <a:srgbClr val="101214"/>
                </a:solidFill>
              </a:rPr>
              <a:t>Что подготовлено к сдаче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015F1-CC31-418A-9ECB-DE0648A5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0363A"/>
                </a:solidFill>
              </a:defRPr>
            </a:pPr>
            <a:r>
              <a:rPr sz="1425" b="0">
                <a:solidFill>
                  <a:srgbClr val="30363A"/>
                </a:solidFill>
              </a:rPr>
              <a:t>Проект оформлен в репозитории, снабжён отчётом, ClearML-витриной, графиками и презентацией.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A2AD1-94A9-41C9-8E3C-192EFF3C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37D0B-7308-4162-887E-BEB5418F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315B9-A3CB-47D8-A812-8E1C1165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A2E141-30AA-4FB2-A676-6F9F32D0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6247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6F960-1987-4BFE-9996-B47BDF38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48627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4C45CF-C316-484D-9DEC-23B05801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960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470EC-3E29-4408-A49C-A344D55F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GitHub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802F89-9582-4ACE-927C-FE4E3371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README содержит задачу,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запуск и результаты, а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материалы для сдачи собраны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в docs.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85009-CDEC-4C2C-80EA-231816F7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A5577-2ED6-4E87-8152-93C309BD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4494C-C971-461F-8B13-9D75FFE9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E71A2-5BF1-4C99-9724-4B909B88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27CCE6-E861-4C63-894A-5C56AC42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543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E5D9EB-1C0D-460D-8BE0-0A40BC11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52437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2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AC5552-6C2E-4E5C-B904-32135827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ClearML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5C9961-B034-428B-9318-A14A8476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Оставлена одна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showcase-задача с таблицами,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графиками, визуалами и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ссылкой на репозиторий.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E188E3-5909-45BA-AB5D-89319A06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33845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A41CF9-5052-4C89-A9D0-44BAE7EE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057650"/>
            <a:ext cx="762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C4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170BD-6906-4090-A963-10FFCAD9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286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4ED">
              <a:alpha val="96078"/>
            </a:srgbClr>
          </a:solidFill>
          <a:ln xmlns:a="http://schemas.openxmlformats.org/drawingml/2006/main" w="11430">
            <a:solidFill>
              <a:srgbClr val="10121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A3EB33-A309-498E-A358-607DC20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42912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7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4C366D-75EE-4FB1-8460-E28DC110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51485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A83D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77CD6E-A51E-4E5D-A8C2-6023AE7D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60057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6F5B"/>
          </a:solidFill>
          <a:ln xmlns:a="http://schemas.openxmlformats.org/drawingml/2006/main" w="9525">
            <a:solidFill>
              <a:srgbClr val="10121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053123-A5D3-4D83-ADFC-5EDA1B0B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26720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6B49"/>
                </a:solidFill>
              </a:defRPr>
            </a:pPr>
            <a:r>
              <a:rPr sz="1125" b="1">
                <a:solidFill>
                  <a:srgbClr val="116B49"/>
                </a:solidFill>
              </a:rPr>
              <a:t>Docs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FA4134-1852-4AA4-8973-5F52F1D8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876800"/>
            <a:ext cx="292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Сформированы report.pdf,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журнал задач и готовая</a:t>
            </a:r>
          </a:p>
          <a:p xmlns:a="http://schemas.openxmlformats.org/drawingml/2006/main">
            <a:pPr algn="l">
              <a:defRPr sz="1050" b="0">
                <a:solidFill>
                  <a:srgbClr val="101214"/>
                </a:solidFill>
              </a:defRPr>
            </a:pPr>
            <a:r>
              <a:rPr sz="1050" b="0">
                <a:solidFill>
                  <a:srgbClr val="101214"/>
                </a:solidFill>
              </a:rPr>
              <a:t>презентация.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DBDDD7-C697-4802-BF1F-D19836A6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76"/>
                </a:solidFill>
              </a:defRPr>
            </a:pPr>
            <a:r>
              <a:rPr sz="750" b="0">
                <a:solidFill>
                  <a:srgbClr val="687076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2897459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2026-05-23T12:38:10.2080000Z</dcterms:created>
  <dcterms:modified xsi:type="dcterms:W3CDTF">2026-05-23T12:38:10.2080000Z</dcterms:modified>
</coreProperties>
</file>